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822960"/>
            <a:ext cx="4114800" cy="384048"/>
          </a:xfrm>
          <a:prstGeom prst="roundRect">
            <a:avLst/>
          </a:prstGeom>
          <a:solidFill>
            <a:srgbClr val="0C4A6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RESEARCH PROJECT PRESENTATION • HEALTHCARE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HandRehab-AI: A Multimodal Framework Fusing Attentive Patient Diaries and Markerless Joint Kinematics</a:t>
            </a:r>
          </a:p>
          <a:p>
            <a:pPr>
              <a:defRPr sz="1800">
                <a:solidFill>
                  <a:srgbClr val="93C5FD"/>
                </a:solidFill>
              </a:defRPr>
            </a:pPr>
            <a:r>
              <a:t>Longitudinal Telerehabilitation Monitoring via Multi-Task Recurrent NLP and Browser-Native Computer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PROJECT HIGHLIGHTS &amp; ARCHITECTURE OVERVIEW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Clinical NLP: Multi-head BiLSTM + Additive Attention extracting Pain, Stiffness, Mobility, and Grip severities with causal attribution.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Computer Vision: Real-time client-side MediaPipe Tasks Vision (21 3D landmarks, PIP flexion angles, active ROM 0°–100°, rep counter).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Temporal Forecasting: 14-day sliding window Multi-Task GRU predicting next-day physical recovery and detecting plateaus/flare-ups.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System Architecture: Privacy-preserving offline browser runtime with zero video stream transmission to remote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577840"/>
            <a:ext cx="10362895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EF3C7"/>
                </a:solidFill>
              </a:defRPr>
            </a:pPr>
            <a:r>
              <a:t>⚠️ Clinical Notice: Observational telerehabilitation monitoring aid, not a diagnostic medical device. Synthetic/simulated datasets utilized. Alerts instruct patients: 'Consult your physiotherapist'.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01 | 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Clinical Background &amp; Motivation: The Post-Surgical Rehab Void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369A1"/>
                </a:solidFill>
              </a:defRPr>
            </a:pPr>
            <a:r>
              <a:t>1. Post-Surgical Healing Window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High-Risk Conditions: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Flexor &amp; extensor tendon repairs, distal radius wrist fractures, and metacarpal fractures.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Early Mobilization Paradox: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Gentle active tendon gliding is mandatory within days 1–30 to avoid permanent scar tissue adhesions.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Catastrophic Failure Modes: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Over-straining risks acute tendon rupture; under-straining leads to permanent joint contracture and stiffness.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Daily Precision Required: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Consistent home exercises must adhere strictly to safe angular thresholds.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08760"/>
            <a:ext cx="33375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E11D48"/>
                </a:solidFill>
              </a:defRPr>
            </a:pPr>
            <a:r>
              <a:t>2. The Telerehabilitation Void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Infrequent Clinic Visits: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Patients typically see their physical therapist only once every 2 to 4 weeks due to clinic capacity and travel costs.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Blind Recovery Between Visits: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Clinicians have zero visibility into daily exercises performed during the 14–28 days at home.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Silent Flare-Ups &amp; Plateaus: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Secondary inflammatory flare-ups or recovery plateaus go unnoticed until irreversible loss of mobility occurs.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Adherence Deterioration: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Over 60% of home patients gradually drop adherence without interactive, objective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508760"/>
            <a:ext cx="33375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D9488"/>
                </a:solidFill>
              </a:defRPr>
            </a:pPr>
            <a:r>
              <a:t>3. Shortcomings of Existing Tools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Paper / Unstructured Diaries: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Subjective, prone to retrospective recall bias, irregular logging, and completely non-actionable.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Mechanical Goniometers: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Only usable by trained clinicians during in-person visits; impossible for patients to measure their own hand angles.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Sensorized Gloves: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Commercial cybergloves cost $1,000–$5,000, require frequent calibration, and cause tactile discomfort on injured tissue.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Siloed Solutions: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Current vision tools ignore subjective pain/stiffness; NLP tools ignore physical Range of Motion (ROM).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01 | 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Formulation &amp; Four Core Research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389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E11D48"/>
                </a:solidFill>
              </a:defRPr>
            </a:pPr>
            <a:r>
              <a:t>Problem Statement</a:t>
            </a:r>
          </a:p>
          <a:p>
            <a:pPr>
              <a:lnSpc>
                <a:spcPct val="125000"/>
              </a:lnSpc>
              <a:defRPr sz="1150">
                <a:solidFill>
                  <a:srgbClr val="475569"/>
                </a:solidFill>
              </a:defRPr>
            </a:pPr>
            <a:r>
              <a:t>Post-surgical hand telerehabilitation lacks an integrated, accessible framework that simultaneously captures subjective patient narratives and objective physical joint kinematics.</a:t>
            </a:r>
            <a:br/>
            <a:br/>
            <a:r>
              <a:t>Key Unresolved Challenges:</a:t>
            </a:r>
            <a:br/>
            <a:r>
              <a:t>1. Semantic Distortion in NLP: Standard clinical text processing strips negations and qualifiers (e.g., 'no pain but very stiff' misclassified as severe pain).</a:t>
            </a:r>
            <a:br/>
            <a:br/>
            <a:r>
              <a:t>2. High Hardware Barrier: Existing kinematic measurement demands costly wearable sensors, preventing equitable home monitoring.</a:t>
            </a:r>
            <a:br/>
            <a:br/>
            <a:r>
              <a:t>3. Anomaly Blindness: Tele-rehab platforms rely on static slope thresholds that collapse under daily physiological sensor noise, failing to catch plateaus and flare-ups.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508760"/>
            <a:ext cx="6016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50" b="1">
                <a:solidFill>
                  <a:srgbClr val="0284C7"/>
                </a:solidFill>
              </a:defRPr>
            </a:pPr>
            <a:r>
              <a:t>Objective 1: Multi-Head Explainable Clinical NLP</a:t>
            </a:r>
          </a:p>
          <a:p>
            <a:pPr>
              <a:lnSpc>
                <a:spcPct val="115000"/>
              </a:lnSpc>
              <a:defRPr sz="1050">
                <a:solidFill>
                  <a:srgbClr val="475569"/>
                </a:solidFill>
              </a:defRPr>
            </a:pPr>
            <a:r>
              <a:t>Develop a multi-task sequence architecture (BiLSTM + Attention) predicting 4 discrete symptom severities (0–3) for Pain, Stiffness, Mobility, and Grip, maintaining negations and causal token attribution.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724912"/>
            <a:ext cx="6016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50" b="1">
                <a:solidFill>
                  <a:srgbClr val="0D9488"/>
                </a:solidFill>
              </a:defRPr>
            </a:pPr>
            <a:r>
              <a:t>Objective 2: Markerless Real-Time Optical Kinematics</a:t>
            </a:r>
          </a:p>
          <a:p>
            <a:pPr>
              <a:lnSpc>
                <a:spcPct val="115000"/>
              </a:lnSpc>
              <a:defRPr sz="1050">
                <a:solidFill>
                  <a:srgbClr val="475569"/>
                </a:solidFill>
              </a:defRPr>
            </a:pPr>
            <a:r>
              <a:t>Implement client-side MediaPipe Tasks Vision in JavaScript/WASM to compute 21 3D joint landmarks, PIP flexion angles, active ROM (0°–100°), and rep counting without specialized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3941064"/>
            <a:ext cx="6016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50" b="1">
                <a:solidFill>
                  <a:srgbClr val="F59E0B"/>
                </a:solidFill>
              </a:defRPr>
            </a:pPr>
            <a:r>
              <a:t>Objective 3: Longitudinal Forecasting &amp; Flare-Up Detection</a:t>
            </a:r>
          </a:p>
          <a:p>
            <a:pPr>
              <a:lnSpc>
                <a:spcPct val="115000"/>
              </a:lnSpc>
              <a:defRPr sz="1050">
                <a:solidFill>
                  <a:srgbClr val="475569"/>
                </a:solidFill>
              </a:defRPr>
            </a:pPr>
            <a:r>
              <a:t>Train multi-task recurrent sequence models over 14-day historical trajectories to forecast next-day physical recovery and classify trajectory state (Normal vs. Plateau vs. Acute Relapse).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5157216"/>
            <a:ext cx="6016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50" b="1">
                <a:solidFill>
                  <a:srgbClr val="10B981"/>
                </a:solidFill>
              </a:defRPr>
            </a:pPr>
            <a:r>
              <a:t>Objective 4: Integrated Privacy-First Web Architecture</a:t>
            </a:r>
          </a:p>
          <a:p>
            <a:pPr>
              <a:lnSpc>
                <a:spcPct val="115000"/>
              </a:lnSpc>
              <a:defRPr sz="1050">
                <a:solidFill>
                  <a:srgbClr val="475569"/>
                </a:solidFill>
              </a:defRPr>
            </a:pPr>
            <a:r>
              <a:t>Build an offline-ready, responsive dashboard (Flask + SQLite + Chart.js) with zero external video streaming, condition-specific exercise guidance, and ethical non-diagnostic transparency.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02 |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Critical Review of Prior Works &amp; Identified Research Gaps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651760"/>
                <a:gridCol w="3108960"/>
                <a:gridCol w="2864815"/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Research Domain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Representative Works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Methodology &amp; Strengths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Critical Limitations &amp; Gaps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Sensorized Gloves &amp;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Simone et al. (2007)</a:t>
                      </a:r>
                      <a:br/>
                      <a:r>
                        <a:t>Kramer et al. (CyberGlove)</a:t>
                      </a:r>
                      <a:br/>
                      <a:r>
                        <a:t>Lin et al. (2020)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High physical precision; measures strain gages and bend angles directly on hand joints.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Prohibitive cost ($1,000–$5,000); discomfort on swollen tissue; requires frequent calibration; non-scalable.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Clinical NLP &amp; Sentiment Models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BioBERT (Lee et al., 2020)</a:t>
                      </a:r>
                      <a:br/>
                      <a:r>
                        <a:t>ClinicalBERT (Alsentzer)</a:t>
                      </a:r>
                      <a:br/>
                      <a:r>
                        <a:t>Dernoncourt et al. (2017)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Extracts clinical entities from hospital EHR notes; high general linguistic capability.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Generic stopword lists drop vital negations ('no pain'); lack hand-specific functional severity heads (0–3).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Markerless Computer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Lugaresi et al. (MediaPipe 2019)</a:t>
                      </a:r>
                      <a:br/>
                      <a:r>
                        <a:t>Cao et al. (OpenPose)</a:t>
                      </a:r>
                      <a:br/>
                      <a:r>
                        <a:t>Mathis et al. (DeepLabCut)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Zero hardware cost; monocular RGB landmark tracking; accessible via standard webcams.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Operates in a physical silo; completely blind to internal patient symptoms (pain, stiffness, grip fatigue).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Longitudinal Trend Analytics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Rule-Based Tele-Rehab (2018)</a:t>
                      </a:r>
                      <a:br/>
                      <a:r>
                        <a:t>Moving Average Models</a:t>
                      </a:r>
                      <a:br/>
                      <a:r>
                        <a:t>Standard Linear Slopes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Simple heuristics for clinical reporting; easy to interpret in dashboards.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Fails under daily sensor noise; cannot distinguish temporary rest from genuine recovery plateaus.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00" b="1">
                <a:solidFill>
                  <a:srgbClr val="0D9488"/>
                </a:solidFill>
              </a:defRPr>
            </a:pPr>
            <a:r>
              <a:t>🎯 Core Research Gap Addressed by HandRehab-AI: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No prior framework unifies daily patient narrative self-reports with markerless optical joint kinematics in an offline, privacy-first web architecture. HandRehab-AI bridges this divide by fusing explainable NLP severity extraction with 3D joint biomechanics and longitudinal recurrent sequence forecasting.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03 |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HandRehab-AI: Multimodal Rehabilitation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369A1"/>
                </a:solidFill>
              </a:defRPr>
            </a:pPr>
            <a:r>
              <a:t>Pillar 1: Negation-Preserving Diary NLP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Clinical Multi-Task Heads: Simultaneous prediction of 4 severity scores (0 to 3) for Pain, Stiffness, Mobility Limitation, and Grip Weakness.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Negation &amp; Qualifier Integrity: Strict retention of negation operators ('no', 'not', 'never', 'without') and qualifiers ('bit', 'slightly', 'barely').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Frozen Semantic Embeddings: GloVe 100d word vectors frozen to evaluate true generalization under fixed semantic spaces.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Explainable Causal Attribution: Leave-one-out token occlusion and attention weights highlighting causal symptom words (e.g., 'sharp', 'throbbing', 'stiff') directly in the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08760"/>
            <a:ext cx="33375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Pillar 2: Markerless Joint Kinematics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Edge WebAssembly Execution: MediaPipe Tasks Vision running locally inside JavaScript; zero raw video streamed to remote servers.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3D Anatomical Trigonometry: Real-time PIP joint angle computation (Index: 5-6-7, Middle: 9-10-11) via 3D vector dot products.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Active Range of Motion (ROM): Functional flexion computed in degrees (0°–100°) dynamically tracking finger curl depth.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Adaptive Exercise Guidance: Condition-specific routines tailored to 6 distinct post-surgical conditions (Flexor Tendon, Extensor Tendon, Wrist Fracture, Carpal Tunnel, Metacarpal, General).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508760"/>
            <a:ext cx="33375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Pillar 3: Longitudinal Forecasting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14-Day Temporal Window: Sequence models process 5 daily features [Pain, Stiffness, Mobility, Grip, ROM] over a two-week historical context.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Dual Multi-Task Objectives: Simultaneous 1-day ahead physical trajectory regression (MAE, RMSE) and 3-state clinical status classification.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Robust Anomaly Classification: Detects Normal Progression, Recovery Plateaus, and Acute Flare-Ups while filtering daily noise spikes.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• Patient-Centric Transparency: Separates objective real data charts from AI forecasts; alerts strictly instruct consultation with physiotherapist.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04 |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Multimodal System Architecture</a:t>
            </a:r>
          </a:p>
        </p:txBody>
      </p:sp>
      <p:pic>
        <p:nvPicPr>
          <p:cNvPr id="5" name="Picture 4" descr="figure_3_1_system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21792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508760"/>
            <a:ext cx="4327855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00" b="1">
                <a:solidFill>
                  <a:srgbClr val="0284C7"/>
                </a:solidFill>
              </a:defRPr>
            </a:pPr>
            <a:r>
              <a:t>Layer 1: Data Ingestion &amp; Preprocessing</a:t>
            </a:r>
          </a:p>
          <a:p>
            <a:pPr>
              <a:lnSpc>
                <a:spcPct val="115000"/>
              </a:lnSpc>
              <a:defRPr sz="1000">
                <a:solidFill>
                  <a:srgbClr val="475569"/>
                </a:solidFill>
              </a:defRPr>
            </a:pPr>
            <a:r>
              <a:t>• Text Tokenization with Negation &amp; Qualifier Preservation ('no', 'not', 'slightly').</a:t>
            </a:r>
            <a:br/>
            <a:r>
              <a:t>• Local WebAssembly Video Stream decoding 21 3D landmarks at 30+ FPS.</a:t>
            </a:r>
            <a:br/>
            <a:r>
              <a:t>• SQLite Patient Profile and Longitudinal Historical Repository.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136392"/>
            <a:ext cx="4327855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00" b="1">
                <a:solidFill>
                  <a:srgbClr val="0D9488"/>
                </a:solidFill>
              </a:defRPr>
            </a:pPr>
            <a:r>
              <a:t>Layer 2: AI Core &amp; Deep Learning Engine</a:t>
            </a:r>
          </a:p>
          <a:p>
            <a:pPr>
              <a:lnSpc>
                <a:spcPct val="115000"/>
              </a:lnSpc>
              <a:defRPr sz="1000">
                <a:solidFill>
                  <a:srgbClr val="475569"/>
                </a:solidFill>
              </a:defRPr>
            </a:pPr>
            <a:r>
              <a:t>• Multi-Head BiLSTM + Additive Attention NLP (Frozen GloVe 100d).</a:t>
            </a:r>
            <a:br/>
            <a:r>
              <a:t>• 3D Trigonometric Joint Angle &amp; Active Range of Motion (ROM) Engine.</a:t>
            </a:r>
            <a:br/>
            <a:r>
              <a:t>• Multi-Task Temporal GRU (14-day window for regression + anomaly classification).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4764024"/>
            <a:ext cx="4327855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00" b="1">
                <a:solidFill>
                  <a:srgbClr val="0F172A"/>
                </a:solidFill>
              </a:defRPr>
            </a:pPr>
            <a:r>
              <a:t>Layer 3: Clinical Presentation &amp; Telerehabilitation</a:t>
            </a:r>
          </a:p>
          <a:p>
            <a:pPr>
              <a:lnSpc>
                <a:spcPct val="115000"/>
              </a:lnSpc>
              <a:defRPr sz="1000">
                <a:solidFill>
                  <a:srgbClr val="475569"/>
                </a:solidFill>
              </a:defRPr>
            </a:pPr>
            <a:r>
              <a:t>• Flask REST API exposing POST /api/diary, /api/trend, and /api/user/record.</a:t>
            </a:r>
            <a:br/>
            <a:r>
              <a:t>• Responsive Dashboard with Chart.js visualization (3 dedicated patient charts).</a:t>
            </a:r>
            <a:br/>
            <a:r>
              <a:t>• Explainable causal word attribution chips and non-diagnostic alert banners.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05 | IMPLEMENTATION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Methodology: Negation-Preserving NLP &amp; Causal Attribution</a:t>
            </a:r>
          </a:p>
        </p:txBody>
      </p:sp>
      <p:pic>
        <p:nvPicPr>
          <p:cNvPr id="5" name="Picture 4" descr="figure_3_2_preprocess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120640" cy="2377440"/>
          </a:xfrm>
          <a:prstGeom prst="rect">
            <a:avLst/>
          </a:prstGeom>
        </p:spPr>
      </p:pic>
      <p:pic>
        <p:nvPicPr>
          <p:cNvPr id="6" name="Picture 5" descr="figure_3_3_recurrent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06908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0369A1"/>
                </a:solidFill>
              </a:defRPr>
            </a:pPr>
            <a:r>
              <a:t>Negation Preservation &amp; Multi-Head Scheme</a:t>
            </a:r>
          </a:p>
          <a:p>
            <a:pPr>
              <a:lnSpc>
                <a:spcPct val="120000"/>
              </a:lnSpc>
              <a:defRPr sz="1000">
                <a:solidFill>
                  <a:srgbClr val="475569"/>
                </a:solidFill>
              </a:defRPr>
            </a:pPr>
            <a:r>
              <a:t>• Tokenization &amp; Lemmatization with Negation Guard: Words like 'no', 'not', 'never', 'without' and degree modifiers ('bit', 'slightly', 'barely') are explicitly exempt from stopword pruning.</a:t>
            </a:r>
            <a:br/>
            <a:r>
              <a:t>• Formulation: 4 symptom dimensions (Pain, Stiffness, Mobility, Grip) × 4 severity levels (0=None, 1=Mild, 2=Moderate, 3=Severe) = 16 classification heads.</a:t>
            </a:r>
            <a:br/>
            <a:r>
              <a:t>• Frozen GloVe 100d Embeddings ensure fair, fixed semantic evaluation without vocabulary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690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0D9488"/>
                </a:solidFill>
              </a:defRPr>
            </a:pPr>
            <a:r>
              <a:t>Attention &amp; Leave-One-Out Causal Attribution</a:t>
            </a:r>
          </a:p>
          <a:p>
            <a:pPr>
              <a:lnSpc>
                <a:spcPct val="120000"/>
              </a:lnSpc>
              <a:defRPr sz="1000">
                <a:solidFill>
                  <a:srgbClr val="475569"/>
                </a:solidFill>
              </a:defRPr>
            </a:pPr>
            <a:r>
              <a:t>• Additive Sequence Attention: Context vector c = Σ α_t h_t allows the network to weight high-salience symptom tokens.</a:t>
            </a:r>
            <a:br/>
            <a:r>
              <a:t>• Causal Attribution via Leave-One-Out Occlusion:</a:t>
            </a:r>
            <a:br/>
            <a:r>
              <a:t>   Δ_i = Σ_s || P(Y_s | X) - P(Y_s | X_\i) ||_1</a:t>
            </a:r>
            <a:br/>
            <a:r>
              <a:t>• Quantifies exact probability shift induced by removing word i; tokens exceeding the causal threshold are rendered as interactive highlighted chips in the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05 | IMPLEMENTATION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Methodology: Markerless Computer Vision &amp; 3D Kinematics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369A1"/>
                </a:solidFill>
              </a:defRPr>
            </a:pPr>
            <a:r>
              <a:t>1. Markerless Optical Kinematics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MediaPipe Tasks Vision Edge Inference: </a:t>
            </a:r>
          </a:p>
          <a:p>
            <a:pPr>
              <a:spcAft>
                <a:spcPts val="500"/>
              </a:spcAft>
              <a:defRPr sz="1000">
                <a:solidFill>
                  <a:srgbClr val="475569"/>
                </a:solidFill>
              </a:defRPr>
            </a:pPr>
            <a:r>
              <a:t>Executes natively in client browser using WebAssembly. Detects 21 3D hand landmarks at 30+ FPS without transmitting video to any cloud server.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3D PIP Joint Angle Calculation: </a:t>
            </a:r>
          </a:p>
          <a:p>
            <a:pPr>
              <a:spcAft>
                <a:spcPts val="500"/>
              </a:spcAft>
              <a:defRPr sz="1000">
                <a:solidFill>
                  <a:srgbClr val="475569"/>
                </a:solidFill>
              </a:defRPr>
            </a:pPr>
            <a:r>
              <a:t>Computed via 3D vector dot product across proximal interphalangeal joints (Index: 5-6-7, Middle: 9-10-11):</a:t>
            </a:r>
            <a:br/>
            <a:r>
              <a:t>θ = arccos((BA · BC) / (||BA|| ||BC||))</a:t>
            </a:r>
            <a:br/>
            <a:r>
              <a:t>Robust against camera perspective skew and depth variations.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Active Range of Motion (ROM): </a:t>
            </a:r>
          </a:p>
          <a:p>
            <a:pPr>
              <a:spcAft>
                <a:spcPts val="500"/>
              </a:spcAft>
              <a:defRPr sz="1000">
                <a:solidFill>
                  <a:srgbClr val="475569"/>
                </a:solidFill>
              </a:defRPr>
            </a:pPr>
            <a:r>
              <a:t>Quantifies functional active flexion (0°–100°):</a:t>
            </a:r>
            <a:br/>
            <a:r>
              <a:t>ROM = clip(180.0° - θ_PIP, 0.0, 100.0)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Hysteresis Repetition State Machine: </a:t>
            </a:r>
          </a:p>
          <a:p>
            <a:pPr>
              <a:spcAft>
                <a:spcPts val="500"/>
              </a:spcAft>
              <a:defRPr sz="1000">
                <a:solidFill>
                  <a:srgbClr val="475569"/>
                </a:solidFill>
              </a:defRPr>
            </a:pPr>
            <a:r>
              <a:t>FLEX_THRESH ≤ 85.0° triggers FLEXED state;</a:t>
            </a:r>
            <a:br/>
            <a:r>
              <a:t>EXTEND_THRESH ≥ 140.0° registers +1 Rep and resets to EXTENDED state, preventing false bounces.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3815" y="150876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</a:defRPr>
            </a:pPr>
            <a:r>
              <a:t>2. Multi-Task Longitudinal Modeling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14-Day Sliding Window: </a:t>
            </a:r>
          </a:p>
          <a:p>
            <a:pPr>
              <a:spcAft>
                <a:spcPts val="500"/>
              </a:spcAft>
              <a:defRPr sz="1000">
                <a:solidFill>
                  <a:srgbClr val="475569"/>
                </a:solidFill>
              </a:defRPr>
            </a:pPr>
            <a:r>
              <a:t>Processes sequence X = [x_{t-13}, ..., x_t] containing 5 daily physical features: [Pain, Stiffness, Mobility, Grip, ROM].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Dual Prediction Head: </a:t>
            </a:r>
          </a:p>
          <a:p>
            <a:pPr>
              <a:spcAft>
                <a:spcPts val="500"/>
              </a:spcAft>
              <a:defRPr sz="1000">
                <a:solidFill>
                  <a:srgbClr val="475569"/>
                </a:solidFill>
              </a:defRPr>
            </a:pPr>
            <a:r>
              <a:t>• Head 1 (Continuous Regression): Predicts next-day physical recovery vector y_{t+1} (Loss: Mean Squared Error).</a:t>
            </a:r>
            <a:br/>
            <a:r>
              <a:t>• Head 2 (Clinical Status Classification): Predicts trajectory health state c_{t+1} ∈ {Normal Recovery, Plateau, Flare-Up} (Loss: Cross-Entropy).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Multi-Task Loss Balancing: </a:t>
            </a:r>
          </a:p>
          <a:p>
            <a:pPr>
              <a:spcAft>
                <a:spcPts val="500"/>
              </a:spcAft>
              <a:defRPr sz="1000">
                <a:solidFill>
                  <a:srgbClr val="475569"/>
                </a:solidFill>
              </a:defRPr>
            </a:pPr>
            <a:r>
              <a:t>L_total = L_regression + λ * L_classification</a:t>
            </a:r>
            <a:br/>
            <a:r>
              <a:t>Trained with early stopping on validation loss across fixed seeds (42, 43, 44).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Noise Robustness: </a:t>
            </a:r>
          </a:p>
          <a:p>
            <a:pPr>
              <a:spcAft>
                <a:spcPts val="500"/>
              </a:spcAft>
              <a:defRPr sz="1000">
                <a:solidFill>
                  <a:srgbClr val="475569"/>
                </a:solidFill>
              </a:defRPr>
            </a:pPr>
            <a:r>
              <a:t>GRU temporal recurrence acts as an adaptive low-pass filter, maintaining alert accuracy where rule-based heuristics fail under noisy real-world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05 | IMPLEMENTATION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Implementation: Three-Step Clinical Patient Workflow</a:t>
            </a:r>
          </a:p>
        </p:txBody>
      </p:sp>
      <p:pic>
        <p:nvPicPr>
          <p:cNvPr id="5" name="Picture 4" descr="figure_3_4_diary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3337560" cy="2560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20624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0369A1"/>
                </a:solidFill>
              </a:defRPr>
            </a:pPr>
            <a:r>
              <a:t>Step 1: Daily Rehab Diary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Natural language self-report input.</a:t>
            </a:r>
            <a:br/>
            <a:r>
              <a:t>• Instant extraction of 4 symptom scores.</a:t>
            </a:r>
            <a:br/>
            <a:r>
              <a:t>• Explainable causal attention chips.</a:t>
            </a:r>
            <a:br/>
            <a:r>
              <a:t>• Today's Session Summary &amp; Save actions.</a:t>
            </a:r>
          </a:p>
        </p:txBody>
      </p:sp>
      <p:pic>
        <p:nvPicPr>
          <p:cNvPr id="7" name="Picture 6" descr="figure_3_5_camera_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508760"/>
            <a:ext cx="3337560" cy="2560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16552" y="420624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0D9488"/>
                </a:solidFill>
              </a:defRPr>
            </a:pPr>
            <a:r>
              <a:t>Step 2: Camera Exercise Tracker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Real-time MediaPipe hand landmark tracking.</a:t>
            </a:r>
            <a:br/>
            <a:r>
              <a:t>• Live joint angle &amp; active ROM display.</a:t>
            </a:r>
            <a:br/>
            <a:r>
              <a:t>• Curl depth progress bar &amp; rep counter.</a:t>
            </a:r>
            <a:br/>
            <a:r>
              <a:t>• Condition-guided 3-step exercise cues.</a:t>
            </a:r>
          </a:p>
        </p:txBody>
      </p:sp>
      <p:pic>
        <p:nvPicPr>
          <p:cNvPr id="9" name="Picture 8" descr="figure_3_6_recovery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508760"/>
            <a:ext cx="3337560" cy="2560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01584" y="420624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F59E0B"/>
                </a:solidFill>
              </a:defRPr>
            </a:pPr>
            <a:r>
              <a:t>Step 3: Recovery Progress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3 real-data charts (Pain/Stiff, ROM, Grip).</a:t>
            </a:r>
            <a:br/>
            <a:r>
              <a:t>• 6 patient-friendly recovery cards.</a:t>
            </a:r>
            <a:br/>
            <a:r>
              <a:t>• Plain-English ROM educational definitions.</a:t>
            </a:r>
            <a:br/>
            <a:r>
              <a:t>• AI-estimated recovery &amp; clinical alert banner.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06 | RESULT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Experimental Results: Multi-Head Diary NLP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97280"/>
                <a:gridCol w="1097280"/>
                <a:gridCol w="1097280"/>
                <a:gridCol w="118872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Synth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Synth 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Held-Out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Held-Out F1 (95% CI)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TF-IDF + LogReg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0.985 ± 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0.726 ± 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0.556 [0.47, 0.62]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Simple RNN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0.714 ± 0.002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0.586 ± 0.018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0.455 [0.38, 0.51]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0.901 ± 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0.667 ± 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0.518 [0.44, 0.58]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GRU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0.927 ± 0.008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0.695 ± 0.008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0.545 [0.46, 0.61]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BiLSTM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0.939 ± 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0.696 ± 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0.546 [0.46, 0.61]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BiLSTM + Attention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0.930 ± 0.008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0.679 ± 0.019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0.534 [0.45, 0.60]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ure_4_1_macro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508760"/>
            <a:ext cx="4327855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617720"/>
            <a:ext cx="1072865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00" b="1">
                <a:solidFill>
                  <a:srgbClr val="0369A1"/>
                </a:solidFill>
              </a:defRPr>
            </a:pPr>
            <a:r>
              <a:t>Key Findings &amp; Analytical Discussion: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Synthetic-to-Real Generalization Gap: Models achieve &gt;90% Macro F1 on synthetic test templates, but drop to 51.8%–55.6% on the held-out set (N=62) due to complex compounding syntax and colloquial expressions.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Overlapping Bootstrap 95% CIs: The held-out confidence intervals for TF-IDF ([0.47, 0.62]), BiLSTM ([0.46, 0.61]), and GRU ([0.46, 0.61]) heavily overlap, demonstrating that n-gram baselines remain competitive on short clinical texts, while BiLSTM provides token-level attention explainability.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Symptom Sensitivity Asymmetry: Pain achieved highest sensitivity (F1 up to 0.897 with GRU), while Mobility and Grip exhibited lower F1 (0.32–0.52) due to clinical symptom overlap in patient descriptions.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06 | RESULT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Experimental Results: Recovery Trajectory Forecasting &amp; Alerts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Forecast MAE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ROM MAE (°)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Status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Status Macro 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Tomorrow = Today (Naive)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1.21°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0.285 (Fails Anomaly)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7-Day Moving Avg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0.673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2.92°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0.745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0.285 (Fails Anomaly)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Rule-Based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1.21°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0.509 (Clean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Rule-Based (Noisy)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0.701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2.87°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0.473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0.307 (Degrades Under Noise)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LSTM (Standard)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0.563 ± 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2.37 ± 0.09°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0.737 ± 0.013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0.582 ± 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GRU (Selected Best)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0.475 ± 0.027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1.99 ± 0.12°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0.758 ± 0.006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0.611 ± 0.009 (Best)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ure_4_3_trend_forecas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508760"/>
            <a:ext cx="4327855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617720"/>
            <a:ext cx="1072865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00" b="1">
                <a:solidFill>
                  <a:srgbClr val="0D9488"/>
                </a:solidFill>
              </a:defRPr>
            </a:pPr>
            <a:r>
              <a:t>Forecasting vs Alerting Asymmetry &amp; Key Takeaways: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Forecasting Asymmetry: Naive Persistence ('Tomorrow = Today') achieves lowest MAE (0.284) because biological healing progresses smoothly day-by-day. Neural models exhibit slight regression shrinkage that inflates 1-day point MAE.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Anomaly Classification Superiority: Persistence fails completely on clinical alerts (Macro F1 = 0.285, unable to detect state transitions). Rule-based slopes collapse under realistic sensor noise (F1 drops 0.509 -&gt; 0.307).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Selected Architecture (GRU): Multi-Task GRU achieves highest Status Macro F1 (0.611 on standard, 0.438 on out-of-distribution noisy patients) by capturing 14-day temporal context and filtering daily noise spikes.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06 | RESULT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Discussion: Clinical Insights, Ethical Positioning &amp;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663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50" b="1">
                <a:solidFill>
                  <a:srgbClr val="0284C7"/>
                </a:solidFill>
              </a:defRPr>
            </a:pPr>
            <a:r>
              <a:t>1. Synthetic-to-Real Domain Shift</a:t>
            </a:r>
          </a:p>
          <a:p>
            <a:pPr>
              <a:lnSpc>
                <a:spcPct val="120000"/>
              </a:lnSpc>
              <a:defRPr sz="1050">
                <a:solidFill>
                  <a:srgbClr val="475569"/>
                </a:solidFill>
              </a:defRPr>
            </a:pPr>
            <a:r>
              <a:t>The empirical drop from &gt;90% to ~55% F1 on held-out text mirrors real clinical deployment challenges. Template generation guarantees grammatical purity, while actual patient notes contain compound sentences, misspellings, and mixed-sentiment clauses. This underscores the necessity of continuous feedback loops in post-surgical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3815" y="1508760"/>
            <a:ext cx="51663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50" b="1">
                <a:solidFill>
                  <a:srgbClr val="0D9488"/>
                </a:solidFill>
              </a:defRPr>
            </a:pPr>
            <a:r>
              <a:t>2. Explainability &amp; Causal Attribution</a:t>
            </a:r>
          </a:p>
          <a:p>
            <a:pPr>
              <a:lnSpc>
                <a:spcPct val="120000"/>
              </a:lnSpc>
              <a:defRPr sz="1050">
                <a:solidFill>
                  <a:srgbClr val="475569"/>
                </a:solidFill>
              </a:defRPr>
            </a:pPr>
            <a:r>
              <a:t>Black-box AI is unacceptable in healthcare tele-monitoring. By coupling additive sequence attention with leave-one-out probability shifts (Δ_i), HandRehab-AI renders the exact symptom tokens driving scores into interactive UI chips, allowing physical therapists to verify that clinical reasoning aligns with medical intent.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663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50" b="1">
                <a:solidFill>
                  <a:srgbClr val="F59E0B"/>
                </a:solidFill>
              </a:defRPr>
            </a:pPr>
            <a:r>
              <a:t>3. Privacy-Preserving Edge Computer Vision</a:t>
            </a:r>
          </a:p>
          <a:p>
            <a:pPr>
              <a:lnSpc>
                <a:spcPct val="120000"/>
              </a:lnSpc>
              <a:defRPr sz="1050">
                <a:solidFill>
                  <a:srgbClr val="475569"/>
                </a:solidFill>
              </a:defRPr>
            </a:pPr>
            <a:r>
              <a:t>Transmitting private patient home webcam video over the internet introduces immense regulatory, HIPAA, and ethical hurdles. Executing MediaPipe Tasks Vision entirely client-side via WebAssembly provides zero-trust privacy: landmarks and ROM are computed locally, and only numerical vectors are saved.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3977639"/>
            <a:ext cx="51663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50" b="1">
                <a:solidFill>
                  <a:srgbClr val="E11D48"/>
                </a:solidFill>
              </a:defRPr>
            </a:pPr>
            <a:r>
              <a:t>4. Honest Limitations &amp; Non-Diagnostic Stance</a:t>
            </a:r>
          </a:p>
          <a:p>
            <a:pPr>
              <a:lnSpc>
                <a:spcPct val="120000"/>
              </a:lnSpc>
              <a:defRPr sz="1050">
                <a:solidFill>
                  <a:srgbClr val="475569"/>
                </a:solidFill>
              </a:defRPr>
            </a:pPr>
            <a:r>
              <a:t>HandRehab-AI is deliberately positioned as an observational pair-monitoring aid, not a diagnostic medical device. Synthetic and simulated datasets are explicitly disclosed. Warning banners systematically instruct patients: 'Consult your physiotherapist', maintaining clinical safety and ethical compliance.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47472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07 | 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Concluding Remarks &amp; Strategic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369A1"/>
                </a:solidFill>
              </a:defRPr>
            </a:pPr>
            <a:r>
              <a:t>Summary of Contributions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Multimodal Fusion: 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Demonstrated that combining subjective patient diaries with objective markerless joint kinematics bridges the tele-rehab monitoring gap.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Negation &amp; Semantic Integrity: 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Preserving negations ('no', 'not', 'without') eliminates critical clinical misclassification in patient self-reports.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Explainable Architecture: 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BiLSTM + Attention with leave-one-out causal attribution makes deep learning predictions transparent and auditable for therapists.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Robust Anomaly Detection: 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Multi-Task GRU successfully detects clinical plateaus and inflammatory relapses while filtering everyday sensor noise spikes.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Zero-Cost Accessible Delivery: 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Fully client-side browser runtime provides accessible, offline-capable tracking without requiring expensive sensorized gloves.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3815" y="150876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</a:defRPr>
            </a:pPr>
            <a:r>
              <a:t>Strategic Future Roadmap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1. Sign-Language Dexterity Gamification: 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Transform finger curl exercises into interactive sign recognition challenges (ASL/ISL finger spelling), boosting patient motivation through motor gamification.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2. Whisper Multilingual Voice Diary: 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Integrate hands-free automatic speech recognition (OpenAI Whisper) to enable effortless voice self-reporting for patients with severe bilateral hand trauma.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3. Pretrained Biomedical LLM Fine-Tuning: 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Benchmark domain-specific transformers (BioBERT, ClinicalBERT, Med-PaLM) against lightweight recurrent models to evaluate inference latency vs semantic nuances.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4. Dynamic Exercise Progression Engine: 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Develop automated adaptive recommendation algorithms that adjust rep targets and flexion goals as patient recovery progresses.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5. Prospective Clinical Cohort Validation: 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Partner with post-surgical orthopedic clinics to benchmark HandRehab-AI against physical therapist goniometric evaluations on real recovering patients.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2000">
                <a:solidFill>
                  <a:srgbClr val="93C5FD"/>
                </a:solidFill>
              </a:defRPr>
            </a:pPr>
            <a:r>
              <a:t>HandRehab-AI: Open, Objective &amp; Attentive Post-Surgical Tele-Monitoring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10362895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VERIFIED PROJECT ARTIFACTS &amp; DELIVERABLES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</a:defRPr>
            </a:pPr>
            <a:r>
              <a:t>✔  Complete Project Documentation: docs/HandRehab_AI_Project_Report.docx (Full IEEE-formatted academic project report).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</a:defRPr>
            </a:pPr>
            <a:r>
              <a:t>✔  Automated Test Suite: 59 passed unit tests (100% passing rate across NLP, Vision, Trend, and API endpoints).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</a:defRPr>
            </a:pPr>
            <a:r>
              <a:t>✔  Functional Web Dashboard: Local Flask backend + JavaScript frontend running on http://127.0.0.1:5000 (offline ready).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</a:defRPr>
            </a:pPr>
            <a:r>
              <a:t>✔  Rigorous Reproducibility: PyTorch, fixed random seeds (42, 43, 44), 1,000 bootstrap confidence intervals, and benchmark CSVs in results/.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669280"/>
            <a:ext cx="10362895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0F2FE"/>
                </a:solidFill>
              </a:defRPr>
            </a:pPr>
            <a:r>
              <a:t>Questions &amp; Discussion • HandRehab-AI Research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